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54c7e2c4cf42c5" /><Relationship Type="http://schemas.openxmlformats.org/officeDocument/2006/relationships/extended-properties" Target="/docProps/app.xml" Id="Re98a641297e94c67" /><Relationship Type="http://schemas.openxmlformats.org/officeDocument/2006/relationships/officeDocument" Target="/ppt/presentation.xml" Id="Rc54757e35da344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05a43cc5de41cb"/>
  </p:sldMasterIdLst>
  <p:notesMasterIdLst>
    <p:notesMasterId xmlns:r="http://schemas.openxmlformats.org/officeDocument/2006/relationships" r:id="R6a34ddb5f38c4990"/>
  </p:notesMasterIdLst>
  <p:sldIdLst>
    <p:sldId xmlns:r="http://schemas.openxmlformats.org/officeDocument/2006/relationships" id="256" r:id="R7d97f385600a4739"/>
    <p:sldId xmlns:r="http://schemas.openxmlformats.org/officeDocument/2006/relationships" id="257" r:id="R992da717a55d4a55"/>
    <p:sldId xmlns:r="http://schemas.openxmlformats.org/officeDocument/2006/relationships" id="258" r:id="R60fb3bb859474ed4"/>
    <p:sldId xmlns:r="http://schemas.openxmlformats.org/officeDocument/2006/relationships" id="259" r:id="R72bd18a41bbc4eae"/>
    <p:sldId xmlns:r="http://schemas.openxmlformats.org/officeDocument/2006/relationships" id="260" r:id="Rcb8d99a7b6c84647"/>
    <p:sldId xmlns:r="http://schemas.openxmlformats.org/officeDocument/2006/relationships" id="261" r:id="Rfb39b9f091254eec"/>
    <p:sldId xmlns:r="http://schemas.openxmlformats.org/officeDocument/2006/relationships" id="262" r:id="Ref331bc6fa594a40"/>
    <p:sldId xmlns:r="http://schemas.openxmlformats.org/officeDocument/2006/relationships" id="263" r:id="Ra618fd6fb7ea4a6b"/>
    <p:sldId xmlns:r="http://schemas.openxmlformats.org/officeDocument/2006/relationships" id="264" r:id="R24dfaa5abe974cb3"/>
    <p:sldId xmlns:r="http://schemas.openxmlformats.org/officeDocument/2006/relationships" id="265" r:id="Rd693976549f246d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28adc1b5734f5c" /><Relationship Type="http://schemas.openxmlformats.org/officeDocument/2006/relationships/slideMaster" Target="/ppt/slideMasters/slideMaster1.xml" Id="Rcf05a43cc5de41cb" /><Relationship Type="http://schemas.openxmlformats.org/officeDocument/2006/relationships/notesMaster" Target="/ppt/notesMasters/notesMaster1.xml" Id="R6a34ddb5f38c4990" /><Relationship Type="http://schemas.openxmlformats.org/officeDocument/2006/relationships/presProps" Target="/ppt/presProps.xml" Id="R69e84a3be4054aca" /><Relationship Type="http://schemas.openxmlformats.org/officeDocument/2006/relationships/tableStyles" Target="/ppt/tableStyles.xml" Id="Rc9b8c2bd6e084d5a" /><Relationship Type="http://schemas.openxmlformats.org/officeDocument/2006/relationships/slide" Target="/ppt/slides/slide1.xml" Id="R7d97f385600a4739" /><Relationship Type="http://schemas.openxmlformats.org/officeDocument/2006/relationships/slide" Target="/ppt/slides/slide2.xml" Id="R992da717a55d4a55" /><Relationship Type="http://schemas.openxmlformats.org/officeDocument/2006/relationships/slide" Target="/ppt/slides/slide3.xml" Id="R60fb3bb859474ed4" /><Relationship Type="http://schemas.openxmlformats.org/officeDocument/2006/relationships/slide" Target="/ppt/slides/slide4.xml" Id="R72bd18a41bbc4eae" /><Relationship Type="http://schemas.openxmlformats.org/officeDocument/2006/relationships/slide" Target="/ppt/slides/slide5.xml" Id="Rcb8d99a7b6c84647" /><Relationship Type="http://schemas.openxmlformats.org/officeDocument/2006/relationships/slide" Target="/ppt/slides/slide6.xml" Id="Rfb39b9f091254eec" /><Relationship Type="http://schemas.openxmlformats.org/officeDocument/2006/relationships/slide" Target="/ppt/slides/slide7.xml" Id="Ref331bc6fa594a40" /><Relationship Type="http://schemas.openxmlformats.org/officeDocument/2006/relationships/slide" Target="/ppt/slides/slide8.xml" Id="Ra618fd6fb7ea4a6b" /><Relationship Type="http://schemas.openxmlformats.org/officeDocument/2006/relationships/slide" Target="/ppt/slides/slide9.xml" Id="R24dfaa5abe974cb3" /><Relationship Type="http://schemas.openxmlformats.org/officeDocument/2006/relationships/slide" Target="/ppt/slides/slide10.xml" Id="Rd693976549f246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26529dc44647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ae9c3572db43e0" /><Relationship Type="http://schemas.openxmlformats.org/officeDocument/2006/relationships/notesMaster" Target="/ppt/notesMasters/notesMaster1.xml" Id="R193cd35d669a42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bb34c577494365" /><Relationship Type="http://schemas.openxmlformats.org/officeDocument/2006/relationships/notesMaster" Target="/ppt/notesMasters/notesMaster1.xml" Id="Rd6e6ff0ecc0f4f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99b11f38934728" /><Relationship Type="http://schemas.openxmlformats.org/officeDocument/2006/relationships/notesMaster" Target="/ppt/notesMasters/notesMaster1.xml" Id="R4a594aa5029f4b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d109912989463f" /><Relationship Type="http://schemas.openxmlformats.org/officeDocument/2006/relationships/notesMaster" Target="/ppt/notesMasters/notesMaster1.xml" Id="R6216c39888e04b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69f2ec46474f0f" /><Relationship Type="http://schemas.openxmlformats.org/officeDocument/2006/relationships/notesMaster" Target="/ppt/notesMasters/notesMaster1.xml" Id="R9b13717c97084c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042831375347cd" /><Relationship Type="http://schemas.openxmlformats.org/officeDocument/2006/relationships/notesMaster" Target="/ppt/notesMasters/notesMaster1.xml" Id="Rd1c5e4041c9844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619dceed5e484f" /><Relationship Type="http://schemas.openxmlformats.org/officeDocument/2006/relationships/notesMaster" Target="/ppt/notesMasters/notesMaster1.xml" Id="R9337a7b823484b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8d3fcb581746d3" /><Relationship Type="http://schemas.openxmlformats.org/officeDocument/2006/relationships/notesMaster" Target="/ppt/notesMasters/notesMaster1.xml" Id="R69dcaf74be874b7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81f262b6d74332" /><Relationship Type="http://schemas.openxmlformats.org/officeDocument/2006/relationships/notesMaster" Target="/ppt/notesMasters/notesMaster1.xml" Id="R810e41dd0f59408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c75295657fe4aba" /><Relationship Type="http://schemas.openxmlformats.org/officeDocument/2006/relationships/notesMaster" Target="/ppt/notesMasters/notesMaster1.xml" Id="R3acae538eab94f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generated for this deck with OpenAI ImageGen. Content source: CropLeaf project documentation and FA2 rubric.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docs/FA2_RUBRIC_COVERAGE.md. Explain the real-life problem before discussing tools.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uploaded DevOps FA1/FA2 rubrics, FA2 pages 2-3; docs/FA2_RUBRIC_COVERAGE.md.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README.md; terraform/, ansible/, docker-compose.yml, k8s/ manifests.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.github/workflows/ci.yml, .github/workflows/deploy.yml, ansible/deploy.yml.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terraform/, ansible/deploy.yml, k8s/backend.yaml, docs/KUBERNETES_GUIDE.md.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monitoring/, backend/app/observability.py, docker/nginx.conf, docs/SRE_RUNBOOK.md.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monitoring/prometheus/alerts.yml and docs/SRE_RUNBOOK.md.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docs/FA2_RUBRIC_COVERAGE.md and docs/SRE_RUNBOOK.md.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docs/TEAM_CONTRIBUTIONS.md. Ask each member to explain their assigned artifact.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9bced9867045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6712cf32b84f6f" /><Relationship Type="http://schemas.openxmlformats.org/officeDocument/2006/relationships/slideLayout" Target="/ppt/slideLayouts/slideLayout1.xml" Id="R070892b437ca49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0892b437ca49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6909d1f7547db" /><Relationship Type="http://schemas.openxmlformats.org/officeDocument/2006/relationships/image" Target="/ppt/media/image.png" Id="R3afc12840aaa402a" /><Relationship Type="http://schemas.openxmlformats.org/officeDocument/2006/relationships/notesSlide" Target="/ppt/notesSlides/notesSlide1.xml" Id="Rfb4759995a2449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9ba1e47e4c4e57" /><Relationship Type="http://schemas.openxmlformats.org/officeDocument/2006/relationships/notesSlide" Target="/ppt/notesSlides/notesSlide2.xml" Id="R616163f1b2984f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05d4bf85464965" /><Relationship Type="http://schemas.openxmlformats.org/officeDocument/2006/relationships/notesSlide" Target="/ppt/notesSlides/notesSlide3.xml" Id="Rfc678e23525a47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6aabce6ecc4b36" /><Relationship Type="http://schemas.openxmlformats.org/officeDocument/2006/relationships/notesSlide" Target="/ppt/notesSlides/notesSlide4.xml" Id="R2dd0a1664f9c49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2223c5faa4b35" /><Relationship Type="http://schemas.openxmlformats.org/officeDocument/2006/relationships/notesSlide" Target="/ppt/notesSlides/notesSlide5.xml" Id="Rbbf27ab2bc4149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179f59444f4d2a" /><Relationship Type="http://schemas.openxmlformats.org/officeDocument/2006/relationships/notesSlide" Target="/ppt/notesSlides/notesSlide6.xml" Id="R6f41558e3ece47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eb6123b5c4e2b" /><Relationship Type="http://schemas.openxmlformats.org/officeDocument/2006/relationships/notesSlide" Target="/ppt/notesSlides/notesSlide7.xml" Id="R94b8e74bf5bb4da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abe4da6fce4a07" /><Relationship Type="http://schemas.openxmlformats.org/officeDocument/2006/relationships/notesSlide" Target="/ppt/notesSlides/notesSlide8.xml" Id="R7c8ac063d83c45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8113632b5046f4" /><Relationship Type="http://schemas.openxmlformats.org/officeDocument/2006/relationships/notesSlide" Target="/ppt/notesSlides/notesSlide9.xml" Id="R4517a0128d6f46e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9f204b3b4c4ac0" /><Relationship Type="http://schemas.openxmlformats.org/officeDocument/2006/relationships/notesSlide" Target="/ppt/notesSlides/notesSlide10.xml" Id="Rfcdcc5c9b42941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2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fc12840aaa402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599ACC-AA47-4C52-8196-FC94390E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8FB20B-76F5-44B6-9414-EEF8A283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972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CropLeaf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206146-763E-4CE6-A201-A6D90A67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EE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AEE7CA"/>
                </a:solidFill>
                <a:latin typeface="Helvetica Neue"/>
                <a:ea typeface="Helvetica Neue"/>
                <a:cs typeface="Helvetica Neue"/>
              </a:rPr>
              <a:t>FA2 DevOps: CI/CD, Kubernetes and Observability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B4819C-68CA-4D14-ADD6-DF2F27B3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447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Automated delivery and reliable operation for crop disease detection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42D65A-4C86-4534-BF1D-A2DD69E9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EE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EE7CA"/>
                </a:solidFill>
                <a:latin typeface="Helvetica Neue"/>
                <a:ea typeface="Helvetica Neue"/>
                <a:cs typeface="Helvetica Neue"/>
              </a:rPr>
              <a:t>Group members: add your four names before presentation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1E5FBF-FBC8-4870-AF83-8FA54E30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626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DevOps · FA2 · 10 October 2026</a:t>
            </a:r>
          </a:p>
        </p:txBody>
      </p:sp>
    </p:spTree>
    <p:extLst>
      <p:ext uri="{BB962C8B-B14F-4D97-AF65-F5344CB8AC3E}">
        <p14:creationId xmlns:p14="http://schemas.microsoft.com/office/powerpoint/2010/main" val="7385601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FA60D0-B877-4EA3-BDE7-18F03343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rPr>
              <a:t>Problem statement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8512B2-0655-4931-A282-47EF9455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rPr>
              <a:t>Reliable delivery for a crop-disease detection application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A199D2-BD69-4110-B890-EEA6A2B7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06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6B2CFA-F02B-4BB0-B784-9CB1A102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33147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EBB27B-06E4-4F64-BA56-39589B2C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145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214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rPr>
              <a:t>Farmers depend on a working service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FC7F51-3E2A-4430-BF46-105F94AE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14625"/>
            <a:ext cx="40576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rPr>
              <a:t>CropLeaf accepts leaf images, identifies diseases, and returns treatment guidance. Manual deployment can create different environments, slow recovery, and weak visibility during failures.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CC8F4C-06BF-4192-8557-EB622599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09750"/>
            <a:ext cx="5105400" cy="33147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092A3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17D9AD-0747-485E-89B6-485AF56C5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336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AEE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AEE7CA"/>
                </a:solidFill>
                <a:latin typeface="Helvetica Neue"/>
                <a:ea typeface="Helvetica Neue"/>
                <a:cs typeface="Helvetica Neue"/>
              </a:rPr>
              <a:t>DevOps need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87B577-8ECC-48BA-BBD3-A8B4B5BE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62250"/>
            <a:ext cx="39814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repeatable pipeline must build, test, package, deploy, monitor, and recover the application with clear evidence for every stage.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87EE55-36F3-483E-8090-34FA072D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343400"/>
            <a:ext cx="3981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7B8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7B85C"/>
                </a:solidFill>
                <a:latin typeface="Helvetica Neue"/>
                <a:ea typeface="Helvetica Neue"/>
                <a:cs typeface="Helvetica Neue"/>
              </a:rPr>
              <a:t>Outcome: reliable releases and faster incident response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318CAB-021A-4CCF-A8B8-31EB4240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rPr>
              <a:t>CropLeaf FA2 · DevOps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572E55-4624-462B-A683-111A4025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861194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E65F3B-0389-4D00-A950-6E671105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rPr>
              <a:t>FA2 rubric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EDF063-45DE-4BF7-BD6D-2C84326E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rPr>
              <a:t>All required pipeline stages have working project artifacts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8A868F-4C7E-4777-9282-5C5BE9F0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06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3690B9-89EA-4C59-B7E2-F799D93E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1619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3F8F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BB32EB-CECA-4D27-BF06-FDA20763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rPr>
              <a:t>Source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254C21-43AA-4428-B889-1D791B55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2405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5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02530"/>
                </a:solidFill>
                <a:latin typeface="Helvetica Neue"/>
                <a:ea typeface="Helvetica Neue"/>
                <a:cs typeface="Helvetica Neue"/>
              </a:rPr>
              <a:t>GitHub repository and pull-request trigger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F43949-5116-4A38-8C87-684E2ACC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1619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3F8F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4BEF6A-2DEA-4B91-B958-3FD98D75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2890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rPr>
              <a:t>Build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FB93F7-4E28-4F9A-AD51-C5D7DB47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2890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5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02530"/>
                </a:solidFill>
                <a:latin typeface="Helvetica Neue"/>
                <a:ea typeface="Helvetica Neue"/>
                <a:cs typeface="Helvetica Neue"/>
              </a:rPr>
              <a:t>React build and Docker image build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76BEFA-7FA2-4B08-A1AB-64269AE8E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1619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3F8F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734367-D7DA-4B6C-B4E6-89EEA6F4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rPr>
              <a:t>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231E47-C7C0-4C37-ABE8-93FCFF38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3375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5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02530"/>
                </a:solidFill>
                <a:latin typeface="Helvetica Neue"/>
                <a:ea typeface="Helvetica Neue"/>
                <a:cs typeface="Helvetica Neue"/>
              </a:rPr>
              <a:t>Fast automated Python unit tests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EFB0B3-7A8F-4967-8F74-101487F4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1619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3F8F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59CD7C-C56B-40D6-8A64-CF2AD740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rPr>
              <a:t>Deploy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7EEF82-BA9E-4CB4-8DAB-493A798C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3860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5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02530"/>
                </a:solidFill>
                <a:latin typeface="Helvetica Neue"/>
                <a:ea typeface="Helvetica Neue"/>
                <a:cs typeface="Helvetica Neue"/>
              </a:rPr>
              <a:t>Terraform, Ansible, Compose and Kubernetes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EEFC33-D585-4202-A4E4-DF752ED1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1619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92A3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F26BD0-5875-4BA1-9195-7B20A7F3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4345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Monitor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03A1C5-BCC7-4327-8F88-82D911F8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4345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5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02530"/>
                </a:solidFill>
                <a:latin typeface="Helvetica Neue"/>
                <a:ea typeface="Helvetica Neue"/>
                <a:cs typeface="Helvetica Neue"/>
              </a:rPr>
              <a:t>Prometheus, Grafana, Loki and Jaeger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20535A-CE75-4C01-9BF8-1334D951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866900"/>
            <a:ext cx="1524000" cy="3429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AEE7C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08C540-2418-4057-AAE7-A2DCB589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2288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9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rPr>
              <a:t>10 marks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23E578-08DE-418E-82A8-D3A8DDDF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0"/>
            <a:ext cx="1143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863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9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92A35"/>
                </a:solidFill>
                <a:latin typeface="Helvetica Neue"/>
                <a:ea typeface="Helvetica Neue"/>
                <a:cs typeface="Helvetica Neue"/>
              </a:rPr>
              <a:t>3 marks</a:t>
            </a:r>
          </a:p>
          <a:p xmlns:a="http://schemas.openxmlformats.org/drawingml/2006/main">
            <a:pPr>
              <a:defRPr sz="1275" b="0">
                <a:solidFill>
                  <a:srgbClr val="09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92A35"/>
                </a:solidFill>
                <a:latin typeface="Helvetica Neue"/>
                <a:ea typeface="Helvetica Neue"/>
                <a:cs typeface="Helvetica Neue"/>
              </a:rPr>
              <a:t>methods and design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09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92A35"/>
                </a:solidFill>
                <a:latin typeface="Helvetica Neue"/>
                <a:ea typeface="Helvetica Neue"/>
                <a:cs typeface="Helvetica Neue"/>
              </a:rPr>
              <a:t>5 marks</a:t>
            </a:r>
          </a:p>
          <a:p xmlns:a="http://schemas.openxmlformats.org/drawingml/2006/main">
            <a:pPr>
              <a:defRPr sz="1275" b="0">
                <a:solidFill>
                  <a:srgbClr val="09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92A35"/>
                </a:solidFill>
                <a:latin typeface="Helvetica Neue"/>
                <a:ea typeface="Helvetica Neue"/>
                <a:cs typeface="Helvetica Neue"/>
              </a:rPr>
              <a:t>working CI/CD pipeline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09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92A35"/>
                </a:solidFill>
                <a:latin typeface="Helvetica Neue"/>
                <a:ea typeface="Helvetica Neue"/>
                <a:cs typeface="Helvetica Neue"/>
              </a:rPr>
              <a:t>2 marks</a:t>
            </a:r>
          </a:p>
          <a:p xmlns:a="http://schemas.openxmlformats.org/drawingml/2006/main">
            <a:pPr>
              <a:defRPr sz="1275" b="0">
                <a:solidFill>
                  <a:srgbClr val="09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92A35"/>
                </a:solidFill>
                <a:latin typeface="Helvetica Neue"/>
                <a:ea typeface="Helvetica Neue"/>
                <a:cs typeface="Helvetica Neue"/>
              </a:rPr>
              <a:t>timely, documented demo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11611E-F729-4705-9E74-712A7730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rPr>
              <a:t>CropLeaf FA2 · DevOps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AA7781-DF9F-491A-910C-AFE0B94B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136179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D0379B-EE53-4CDB-A25F-5DAB417E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rPr>
              <a:t>Delivery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59A5CA-7F81-4955-A180-B71FF49C0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rPr>
              <a:t>One source of truth supports local, cloud, and Kubernetes demonstrations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FB580A-D3CC-4D3A-8364-4787D1C6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06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AC882F-BBFB-4707-8C74-8023E970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1619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D26720-CB2B-42B1-A346-C2278278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1276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rPr>
              <a:t>GitHub</a:t>
            </a:r>
          </a:p>
          <a:p xmlns:a="http://schemas.openxmlformats.org/drawingml/2006/main">
            <a:pPr>
              <a:defRPr sz="1425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rPr>
              <a:t>source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59D399-BCE7-4BAB-814C-41A98D4B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3850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E7C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8B4DAB-12A1-4544-A591-7865865E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67000"/>
            <a:ext cx="1619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092A3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CC92BB-95C7-454B-9B07-2A340275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76550"/>
            <a:ext cx="1276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22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GitHub Actions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CI/CD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F22A9B-E6E6-49EB-A621-C6807D7F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3850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E7C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F42142-B5F3-4358-A30B-D6C1ED9A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67000"/>
            <a:ext cx="1619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B3703C-37D2-4A65-BF38-1304311A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76550"/>
            <a:ext cx="1276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rPr>
              <a:t>Terraform</a:t>
            </a:r>
          </a:p>
          <a:p xmlns:a="http://schemas.openxmlformats.org/drawingml/2006/main">
            <a:pPr>
              <a:defRPr sz="1425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rPr>
              <a:t>EC2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1484CB-3843-4D69-A6FE-7D8A22E2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3850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E7C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301FA5-3635-47BD-A006-EBF66BBE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67000"/>
            <a:ext cx="1619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1E3271-06ED-442F-85B7-6CE205B1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76550"/>
            <a:ext cx="1276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345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rPr>
              <a:t>Ansible</a:t>
            </a:r>
          </a:p>
          <a:p xmlns:a="http://schemas.openxmlformats.org/drawingml/2006/main">
            <a:pPr>
              <a:defRPr sz="1425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rPr>
              <a:t>configuration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0FA70B-3E9A-461B-9AA6-527A4A7D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3850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E7C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E085A8-7F96-491E-8E3E-77DA1A19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67000"/>
            <a:ext cx="1619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02A0E6-ECB1-4547-B5E5-151B28B0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76550"/>
            <a:ext cx="1276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22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rPr>
              <a:t>Docker Compose</a:t>
            </a:r>
          </a:p>
          <a:p xmlns:a="http://schemas.openxmlformats.org/drawingml/2006/main">
            <a:pPr>
              <a:defRPr sz="1425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rPr>
              <a:t>CropLeaf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FF1CCA-3690-4E4E-A2F7-20EB21FC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667250"/>
            <a:ext cx="67056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B6A2DF-EAD6-48A6-B914-9E2FF9B3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838700"/>
            <a:ext cx="609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908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rPr>
              <a:t>Kubernetes option: Deployment, StatefulSet, Services, Ingress, readiness probes, rolling updates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94E68F-2972-4EEC-B252-82C4D771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rPr>
              <a:t>CropLeaf FA2 · DevOps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CC6071-6CE2-43AB-BB26-88B30C1A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052382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1382C9-E25B-48A1-B5D8-4525A906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rPr>
              <a:t>CI/CD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70DE0B-85E9-4F6A-80E6-4F585D93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rPr>
              <a:t>Pipeline as code in GitHub Actions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B51752-2613-4E8E-B415-BDC85D52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06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ADD2B5-AB8F-4391-93E1-898E1BD0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1905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EE0580-6F04-4627-8FF3-A7C4029C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806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FF4317-EAD4-4526-965C-B855B27A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B44BDB-0798-4D2D-BAA1-8972F0F3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52700"/>
            <a:ext cx="1009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634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rPr>
              <a:t>Push or pull request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5BC49E-9B73-4DED-965D-8D954C8D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485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rPr>
              <a:t>GitHub starts CI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C74913-CDC8-499D-B56E-E1C29BE6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0861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E7C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8CCB88-7640-422A-A864-45F5B7E2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81250"/>
            <a:ext cx="1905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3151F7-C056-498B-B9D4-C02F9D86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527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806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D7B0FA-1DEF-4D36-9544-19C348A3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717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0B9C64-3FE1-4F54-9100-F6D43013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52700"/>
            <a:ext cx="1009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634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rPr>
              <a:t>Validate and 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816002-C106-4F64-A2AB-2B893478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86100"/>
            <a:ext cx="1485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rPr>
              <a:t>Python, unit tests, React build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92B108-0836-4BB6-B79B-4CA7F384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861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E7C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572EB6-F775-4949-83EC-A3B927F4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81250"/>
            <a:ext cx="1905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6C1474-E7E3-46FD-B9A7-D77E1320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527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806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3F89B9-79C0-4F73-918B-3A16B148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717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0409CA-A248-4C14-820F-370DC3D7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552700"/>
            <a:ext cx="1009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75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rPr>
              <a:t>Build and scan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116E8A-0AF9-4539-ACA2-A0C82B58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86100"/>
            <a:ext cx="1485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rPr>
              <a:t>Docker images, Compose, Trivy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629050-E611-445B-8983-7F6EF6A1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861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E7C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C8E0D0-020A-4DF0-AEB7-5D7EB640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381250"/>
            <a:ext cx="1905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AD326A-50F8-4A23-A7CF-1182D4E2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527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B85C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6FCC47-484C-4FA3-A053-9EC6BBF5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717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783FD7-2A4C-45BF-835F-D0FEA944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52700"/>
            <a:ext cx="1009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634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rPr>
              <a:t>Approve and deploy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3E2753-372A-41DB-A213-E271B310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86100"/>
            <a:ext cx="1485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rPr>
              <a:t>Protected production CD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551702-A90E-40D9-BC34-FDC5849C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861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E7C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8930A8-1DE0-4D41-AD92-9B07864B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81250"/>
            <a:ext cx="1905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43E07C-1914-449D-A87F-CD1A628C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5527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8060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8B5717-CB07-441C-8511-F8338CE7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5717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0B11B0-C3B4-4CCA-8F6E-A2DC959D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552700"/>
            <a:ext cx="1009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rPr>
              <a:t>Verify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E3AB1F-41A1-4191-9153-F8995FC9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086100"/>
            <a:ext cx="1485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rPr>
              <a:t>Ansible health check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57D022-52A1-47CD-A550-353607C4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768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rPr>
              <a:t>CD deploys only a reviewed revision and fails when /api/health/ does not return HTTP 200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9CC873-1A4E-4F86-A11D-335C7245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rPr>
              <a:t>CropLeaf FA2 · DevOps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17DA6F-CCCC-4247-A5DB-FE2A71FD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210341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AB4036-8352-46B3-9507-BE899D55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rPr>
              <a:t>Deployment strategies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3E973F-EF39-4AF3-8C14-07489215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rPr>
              <a:t>EC2 Compose for the live demo and Kubernetes for container orchestration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6FF49E-3C10-4FBF-8A14-01641710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06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A74581-EEF1-458E-B2FD-1E8D0121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49530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DA3B78-868E-459D-83D7-8D619925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907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rPr>
              <a:t>EC2 with Docker Compose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C74CA6-8154-4C2B-BC10-EF3EAF2B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38450"/>
            <a:ext cx="39814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rPr>
              <a:t>Terraform creates the host. Ansible installs Docker, deploys the tested Git revision, protects .env values, and verifies readiness.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7D29B1-B55A-45F4-9992-DF5EAFD6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434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80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08060"/>
                </a:solidFill>
                <a:latin typeface="Helvetica Neue"/>
                <a:ea typeface="Helvetica Neue"/>
                <a:cs typeface="Helvetica Neue"/>
              </a:rPr>
              <a:t>Use for the faculty live deployment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EE2998-9035-48A1-8D01-0261B964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85950"/>
            <a:ext cx="49911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92A3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FAE77F-0131-4514-B362-9D6E1BD5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1907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EE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AEE7CA"/>
                </a:solidFill>
                <a:latin typeface="Helvetica Neue"/>
                <a:ea typeface="Helvetica Neue"/>
                <a:cs typeface="Helvetica Neue"/>
              </a:rPr>
              <a:t>Kubernetes rolling update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DB5C40-6A8D-450F-914C-A629FA5A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38450"/>
            <a:ext cx="39814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Two backend replicas use readiness and liveness probes. A rolling update keeps an available replica while the next revision starts.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49857C-0989-409F-BC5F-5E1C55DF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3434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7B8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7B85C"/>
                </a:solidFill>
                <a:latin typeface="Helvetica Neue"/>
                <a:ea typeface="Helvetica Neue"/>
                <a:cs typeface="Helvetica Neue"/>
              </a:rPr>
              <a:t>Show manifests as Unit III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75A2AB-0DC1-4DBC-AB93-CD6DCD3B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rPr>
              <a:t>CropLeaf FA2 · DevOps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8D5CEB-612A-466A-8E3E-63AA760D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594692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DEC77B-D1D5-4E37-8EFC-D184857B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rPr>
              <a:t>Observability: metrics, logs and traces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6A5431-08F5-4BE6-8E30-523DA386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rPr>
              <a:t>Unit IV implementation on the Docker network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4AFF25-7FC7-4E36-B255-E6DD0EF5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06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960CE4-144E-4F0F-B43C-91308D83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3095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D68E93-5BE1-47EA-AB19-64DDE801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669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806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9FE5CA-3481-4B52-A083-8E477C95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9FA45B-CBBA-4C38-9426-99090598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66950"/>
            <a:ext cx="2200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rPr>
              <a:t>Metrics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F59DED-4E05-4DFA-A99A-86D537AF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00350"/>
            <a:ext cx="26765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rPr>
              <a:t>Prometheus scrapes /metrics. Grafana shows availability, traffic, 5xx rate, and p95 latency.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79AC53-81E3-4032-8ABE-38E2BC90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95500"/>
            <a:ext cx="3095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4D401E-636F-4273-AF65-D0474E3C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669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B85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9D286D-4327-4858-8DC9-41AB402B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860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BC16DD-D837-437C-A901-6AC49216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266950"/>
            <a:ext cx="2200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rPr>
              <a:t>Logs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1F5375-D32A-4AA4-BEBE-5079247F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00350"/>
            <a:ext cx="26765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222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rPr>
              <a:t>Promtail collects container logs. Loki stores them. Grafana Explore queries backend log streams.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3F42C2-68A2-40ED-A131-99CF7F9F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95500"/>
            <a:ext cx="3095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B93EE5-6911-4AF3-93A8-D9E97712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669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92A3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2411FF-5754-4D50-A4FD-3E91895A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860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D04E20-5DF0-4ED9-BE37-7B85E2A8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66950"/>
            <a:ext cx="2200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rPr>
              <a:t>Traces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0AA414-7136-4B14-82D6-F8280181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00350"/>
            <a:ext cx="26765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222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rPr>
              <a:t>OpenTelemetry instruments Django requests. Jaeger shows request spans after the endpoint is configured.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D1693E-C73A-49CA-AA66-72DFC1E4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148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4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4707A"/>
                </a:solidFill>
                <a:latin typeface="Helvetica Neue"/>
                <a:ea typeface="Helvetica Neue"/>
                <a:cs typeface="Helvetica Neue"/>
              </a:rPr>
              <a:t>Sensitive metrics stay on the internal network. Nginx returns 404 for public /metrics requests.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8F2998-E940-4B12-8854-177750A9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rPr>
              <a:t>CropLeaf FA2 · DevOps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39A580-0FEE-4D75-BC00-AD5CA463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3368659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F031FC-1D81-48DC-88B6-1CBA3198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rPr>
              <a:t>SRE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FFF2B2-9955-4737-BD32-E96FEFAA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rPr>
              <a:t>A small service-level objective with clear failure response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B336B2-FAA9-4E4B-BAC1-EB6903D9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06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DBBF93-B269-472A-B76A-92FD7D58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3276600" cy="26289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092A3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2D459C-267C-433E-99EE-AE61552A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EE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AEE7CA"/>
                </a:solidFill>
                <a:latin typeface="Helvetica Neue"/>
                <a:ea typeface="Helvetica Neue"/>
                <a:cs typeface="Helvetica Neue"/>
              </a:rPr>
              <a:t>Availability SLO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021219-6501-4692-BE64-C8C961D0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2362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99% successful backend availability per assessment week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CD9F9B-8A1D-4451-9550-79835748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7B8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7B85C"/>
                </a:solidFill>
                <a:latin typeface="Helvetica Neue"/>
                <a:ea typeface="Helvetica Neue"/>
                <a:cs typeface="Helvetica Neue"/>
              </a:rPr>
              <a:t>Error budget: 100.8 minutes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1D3217-0A73-4E89-B928-D56CFCEA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00250"/>
            <a:ext cx="3276600" cy="26289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686BA7-734A-4CAA-A73A-C815D899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3050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rPr>
              <a:t>Alert rules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673696-9F5F-411C-A10B-9F87D037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5275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408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rPr>
              <a:t>Backend down for one minute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rPr>
              <a:t>5xx rate above 5% for five minutes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8D6950-C55E-4878-9D7A-3319B830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3276600" cy="26289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58E813-374C-48AC-BB09-85941854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050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rPr>
              <a:t>Incident runbook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20E4E6-C914-4985-99D2-75E83F8C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3370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rPr>
              <a:t>Check targets and containers</a:t>
            </a:r>
          </a:p>
          <a:p xmlns:a="http://schemas.openxmlformats.org/drawingml/2006/main">
            <a:pPr>
              <a:defRPr sz="1350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rPr>
              <a:t>Inspect logs and health</a:t>
            </a:r>
          </a:p>
          <a:p xmlns:a="http://schemas.openxmlformats.org/drawingml/2006/main">
            <a:pPr>
              <a:defRPr sz="1350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rPr>
              <a:t>Recover or roll back</a:t>
            </a:r>
          </a:p>
          <a:p xmlns:a="http://schemas.openxmlformats.org/drawingml/2006/main">
            <a:pPr>
              <a:defRPr sz="1350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rPr>
              <a:t>Record cause and 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525861-1EC7-4735-8ADF-2168A043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rPr>
              <a:t>CropLeaf FA2 · DevOps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F21647-AF06-4F9A-B9F1-B130CD25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3830799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01B918-A82E-4C55-84FA-B67D72E2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rPr>
              <a:t>Faculty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EA3FE9-387D-4AA0-8677-2E68E407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rPr>
              <a:t>Evidence in the order that supports the rubric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758144-41A8-40F4-B06C-3AD366D8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06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90A9AB-2856-40B6-A098-32ECD071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66900"/>
            <a:ext cx="5048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8F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95552C-B132-48DD-8916-6D02929D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2882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rPr>
              <a:t>1. Show problem and 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4D5217-496A-4809-B29E-7D4B3217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33700"/>
            <a:ext cx="5048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92A3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DA8B51-BE99-4C73-9483-00D5C610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9562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2. Show green CI run and unit tests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BDA0BC-1E7F-4FB7-9227-2B9ED442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5048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8F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2FC569-DC50-4955-B1C5-A91BFD8D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6242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rPr>
              <a:t>3. Approve CD and show Ansible output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022055-2DC5-49CD-90BD-E1CAC2E9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66900"/>
            <a:ext cx="5048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8F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E15F2E-8811-46C8-9430-15C0077E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2882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rPr>
              <a:t>4. Open application and health endpoint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C95834-5D27-4198-9B53-CCBD7170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33700"/>
            <a:ext cx="5048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8F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DC992E-D104-49ED-A413-E0332A19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9562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rPr>
              <a:t>5. Show Prometheus, Grafana, Loki, Jaeger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1B5585-E52F-4036-A785-20CF94B7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00500"/>
            <a:ext cx="5048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8F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FFBB34-40C1-4ED2-84CE-21FDC086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6242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92A35"/>
                </a:solidFill>
                <a:latin typeface="Helvetica Neue"/>
                <a:ea typeface="Helvetica Neue"/>
                <a:cs typeface="Helvetica Neue"/>
              </a:rPr>
              <a:t>6. Show Kubernetes rolling update manifests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99378A-6EFF-42CE-AA34-E96A8331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rPr>
              <a:t>CropLeaf FA2 · DevOps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1E28EB-201D-488C-B8D0-E5186FF5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4707A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2280017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2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BAD401-B924-4AB2-8D68-84589C96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Team contribution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6F1009-C916-46AC-ACFF-88DBE447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EE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EE7CA"/>
                </a:solidFill>
                <a:latin typeface="Helvetica Neue"/>
                <a:ea typeface="Helvetica Neue"/>
                <a:cs typeface="Helvetica Neue"/>
              </a:rPr>
              <a:t>Replace placeholders with real names before faculty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DAEB0E-7B02-4E57-94A7-9995BBDC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4819650" cy="990600"/>
          </a:xfrm>
          <a:prstGeom xmlns:a="http://schemas.openxmlformats.org/drawingml/2006/main" prst="roundRect">
            <a:avLst>
              <a:gd name="adj" fmla="val 11538"/>
            </a:avLst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CB5F43-648D-49ED-B9AB-EA249144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AEE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AEE7CA"/>
                </a:solidFill>
                <a:latin typeface="Helvetica Neue"/>
                <a:ea typeface="Helvetica Neue"/>
                <a:cs typeface="Helvetica Neue"/>
              </a:rPr>
              <a:t>Member 1 · &lt;name&gt;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07C941-DED9-40B1-BA33-8E8C85C3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398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Application and authentication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2A3F81-C3E5-4704-8D9F-B63ED5A0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52650"/>
            <a:ext cx="4819650" cy="990600"/>
          </a:xfrm>
          <a:prstGeom xmlns:a="http://schemas.openxmlformats.org/drawingml/2006/main" prst="roundRect">
            <a:avLst>
              <a:gd name="adj" fmla="val 11538"/>
            </a:avLst>
          </a:prstGeom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9510FF-1311-45BD-B548-F685C486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622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AEE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AEE7CA"/>
                </a:solidFill>
                <a:latin typeface="Helvetica Neue"/>
                <a:ea typeface="Helvetica Neue"/>
                <a:cs typeface="Helvetica Neue"/>
              </a:rPr>
              <a:t>Member 2 · &lt;name&gt;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B1FBAC-E216-4BED-ABC3-07BE46A4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05100"/>
            <a:ext cx="398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Docker and containerization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CD9C12-0DE9-4EBE-A78E-8DDE501A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4819650" cy="990600"/>
          </a:xfrm>
          <a:prstGeom xmlns:a="http://schemas.openxmlformats.org/drawingml/2006/main" prst="roundRect">
            <a:avLst>
              <a:gd name="adj" fmla="val 11538"/>
            </a:avLst>
          </a:prstGeom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495204-2550-466D-A392-7B4AA0D0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AEE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AEE7CA"/>
                </a:solidFill>
                <a:latin typeface="Helvetica Neue"/>
                <a:ea typeface="Helvetica Neue"/>
                <a:cs typeface="Helvetica Neue"/>
              </a:rPr>
              <a:t>Member 3 · &lt;name&gt;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1D61AF-A945-4F2E-8741-40CE19AD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57650"/>
            <a:ext cx="398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Terraform and Kubernetes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D092C6-3AD4-46BD-8B2D-9598FDF7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05200"/>
            <a:ext cx="4819650" cy="990600"/>
          </a:xfrm>
          <a:prstGeom xmlns:a="http://schemas.openxmlformats.org/drawingml/2006/main" prst="roundRect">
            <a:avLst>
              <a:gd name="adj" fmla="val 11538"/>
            </a:avLst>
          </a:prstGeom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333B17-0087-403E-88B6-C7024F2C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1475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AEE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AEE7CA"/>
                </a:solidFill>
                <a:latin typeface="Helvetica Neue"/>
                <a:ea typeface="Helvetica Neue"/>
                <a:cs typeface="Helvetica Neue"/>
              </a:rPr>
              <a:t>Member 4 · &lt;name&gt;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A83492-BEB6-42B0-B95C-3F821EE0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57650"/>
            <a:ext cx="398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Ansible, CI/CD and SRE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3B1AB1-7A5C-4963-84E0-7F4E5E04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E7B8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E7B85C"/>
                </a:solidFill>
                <a:latin typeface="Helvetica Neue"/>
                <a:ea typeface="Helvetica Neue"/>
                <a:cs typeface="Helvetica Neue"/>
              </a:rPr>
              <a:t>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5715C0-002B-4751-A912-9F3F2CE1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15050"/>
            <a:ext cx="828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Repository, CI logs, dashboards and runbooks provide the evidence.</a:t>
            </a:r>
          </a:p>
        </p:txBody>
      </p:sp>
    </p:spTree>
    <p:extLst>
      <p:ext uri="{BB962C8B-B14F-4D97-AF65-F5344CB8AC3E}">
        <p14:creationId xmlns:p14="http://schemas.microsoft.com/office/powerpoint/2010/main" val="18830274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2026-10-06T18:34:47.4220000Z</dcterms:created>
  <dcterms:modified xsi:type="dcterms:W3CDTF">2026-10-06T18:34:47.4220000Z</dcterms:modified>
</coreProperties>
</file>